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7" r:id="rId3"/>
    <p:sldId id="295" r:id="rId4"/>
    <p:sldId id="304" r:id="rId5"/>
    <p:sldId id="302" r:id="rId6"/>
    <p:sldId id="303" r:id="rId7"/>
    <p:sldId id="301" r:id="rId8"/>
    <p:sldId id="299" r:id="rId9"/>
    <p:sldId id="297" r:id="rId10"/>
    <p:sldId id="298" r:id="rId11"/>
    <p:sldId id="305" r:id="rId12"/>
    <p:sldId id="283" r:id="rId13"/>
    <p:sldId id="293" r:id="rId14"/>
    <p:sldId id="282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1507"/>
  </p:normalViewPr>
  <p:slideViewPr>
    <p:cSldViewPr snapToGrid="0" snapToObjects="1">
      <p:cViewPr varScale="1">
        <p:scale>
          <a:sx n="100" d="100"/>
          <a:sy n="100" d="100"/>
        </p:scale>
        <p:origin x="184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3A305-BC9E-1F47-B244-8714A88B5D1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3E847-55EC-7743-9FA7-F703D28C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9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3E847-55EC-7743-9FA7-F703D28CF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21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looking to solve the </a:t>
            </a:r>
            <a:r>
              <a:rPr lang="en-US" dirty="0" err="1"/>
              <a:t>Hookathon</a:t>
            </a:r>
            <a:r>
              <a:rPr lang="en-US" dirty="0"/>
              <a:t> problem of sustainable liquidity and MEV 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3E847-55EC-7743-9FA7-F703D28CFF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88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3E847-55EC-7743-9FA7-F703D28CFF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9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2286000" cy="127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2700" cy="13716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7055" y="6309360"/>
            <a:ext cx="2286000" cy="127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30355" y="4937760"/>
            <a:ext cx="12700" cy="13716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8961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100" b="1" dirty="0">
                <a:solidFill>
                  <a:srgbClr val="F2F6F8"/>
                </a:solidFill>
                <a:latin typeface="Satoshi"/>
              </a:rPr>
              <a:t>Forward Hook</a:t>
            </a:r>
            <a:endParaRPr sz="6400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3520440"/>
            <a:ext cx="2743200" cy="3175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593593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F2F6F8"/>
                </a:solidFill>
                <a:latin typeface="Satoshi"/>
              </a:rPr>
              <a:t>Real-time liquidity underwriting for Uniswap V4</a:t>
            </a:r>
            <a:endParaRPr sz="2400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C949A"/>
                </a:solidFill>
                <a:latin typeface="Satoshi"/>
              </a:rPr>
              <a:t>01 / </a:t>
            </a:r>
            <a:r>
              <a:rPr lang="en-US" sz="850" b="0" dirty="0">
                <a:solidFill>
                  <a:srgbClr val="8C949A"/>
                </a:solidFill>
                <a:latin typeface="Satoshi"/>
              </a:rPr>
              <a:t>1</a:t>
            </a:r>
            <a:r>
              <a:rPr sz="850" b="0" dirty="0">
                <a:solidFill>
                  <a:srgbClr val="8C949A"/>
                </a:solidFill>
                <a:latin typeface="Satosh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50" b="1" dirty="0">
                <a:solidFill>
                  <a:srgbClr val="8C949A"/>
                </a:solidFill>
                <a:latin typeface="Satoshi"/>
              </a:rPr>
              <a:t>2026, </a:t>
            </a:r>
            <a:r>
              <a:rPr sz="850" b="1" dirty="0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3136392"/>
            <a:ext cx="3154680" cy="0"/>
          </a:xfrm>
          <a:prstGeom prst="line">
            <a:avLst/>
          </a:prstGeom>
          <a:ln w="21590">
            <a:solidFill>
              <a:srgbClr val="48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09760" y="5897880"/>
            <a:ext cx="2121408" cy="0"/>
          </a:xfrm>
          <a:prstGeom prst="line">
            <a:avLst/>
          </a:prstGeom>
          <a:ln w="10160">
            <a:solidFill>
              <a:srgbClr val="19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631168" y="4800600"/>
            <a:ext cx="0" cy="1097280"/>
          </a:xfrm>
          <a:prstGeom prst="line">
            <a:avLst/>
          </a:prstGeom>
          <a:ln w="10160">
            <a:solidFill>
              <a:srgbClr val="233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19488" y="914400"/>
            <a:ext cx="1600200" cy="73152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195560" y="1133856"/>
            <a:ext cx="1024128" cy="73152"/>
          </a:xfrm>
          <a:prstGeom prst="rect">
            <a:avLst/>
          </a:prstGeom>
          <a:solidFill>
            <a:srgbClr val="1F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A489E-3F1F-1868-C1F6-BFA508C5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0E03E-2925-6F5A-7AD3-BC8641792BD7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EB390-F937-26D8-1917-4825B6F33CC5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Goal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BB1603-0200-D001-1AB6-2BE66793BC61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33BA6-F9F0-66F6-475C-6C8A91B3D493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ECB25-AF0D-C4F5-1D3D-10BD7C06BE26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02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ED380-B111-1944-4E45-C259F4F8751F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737360"/>
            <a:ext cx="4663440" cy="1417320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1737360"/>
            <a:ext cx="4663440" cy="64008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938528"/>
            <a:ext cx="4251960" cy="38404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620" b="1">
                <a:solidFill>
                  <a:srgbClr val="F2F6F8"/>
                </a:solidFill>
                <a:latin typeface="Satoshi"/>
              </a:defRPr>
            </a:pPr>
            <a:r>
              <a:t>Sustainable Liquidity &amp; MEV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42032"/>
            <a:ext cx="4251960" cy="32918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20" b="1">
                <a:solidFill>
                  <a:srgbClr val="AEB8C0"/>
                </a:solidFill>
                <a:latin typeface="Satoshi"/>
              </a:defRPr>
            </a:pPr>
            <a:r>
              <a:t>Solve the Hookathon problem without sacrificing open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755648"/>
            <a:ext cx="2487168" cy="676656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9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06440" y="1755648"/>
            <a:ext cx="64008" cy="676656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929384"/>
            <a:ext cx="219456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400" b="1">
                <a:solidFill>
                  <a:srgbClr val="F2F6F8"/>
                </a:solidFill>
                <a:latin typeface="Satoshi"/>
              </a:defRPr>
            </a:pPr>
            <a:r>
              <a:t>Permissionless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59" y="1755648"/>
            <a:ext cx="2487168" cy="676656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9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95359" y="1755648"/>
            <a:ext cx="64008" cy="676656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19" y="1929384"/>
            <a:ext cx="219456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400" b="1">
                <a:solidFill>
                  <a:srgbClr val="F2F6F8"/>
                </a:solidFill>
                <a:latin typeface="Satoshi"/>
              </a:defRPr>
            </a:pPr>
            <a:r>
              <a:t>Attract Liquidity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688336"/>
            <a:ext cx="2487168" cy="676656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9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06440" y="2688336"/>
            <a:ext cx="64008" cy="676656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2862072"/>
            <a:ext cx="219456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400" b="1">
                <a:solidFill>
                  <a:srgbClr val="F2F6F8"/>
                </a:solidFill>
                <a:latin typeface="Satoshi"/>
              </a:defRPr>
            </a:pPr>
            <a:r>
              <a:t>Composable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59" y="2688336"/>
            <a:ext cx="2487168" cy="676656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9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95359" y="2688336"/>
            <a:ext cx="64008" cy="676656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32519" y="2862072"/>
            <a:ext cx="219456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400" b="1">
                <a:solidFill>
                  <a:srgbClr val="F2F6F8"/>
                </a:solidFill>
                <a:latin typeface="Satoshi"/>
              </a:defRPr>
            </a:pPr>
            <a:r>
              <a:t>Trust-minimized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160520"/>
            <a:ext cx="10241280" cy="6858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352544"/>
            <a:ext cx="9692640" cy="2743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450" b="1">
                <a:solidFill>
                  <a:srgbClr val="F2F6F8"/>
                </a:solidFill>
                <a:latin typeface="Satoshi"/>
              </a:defRPr>
            </a:pPr>
            <a:r>
              <a:t>Goal: attract more durable liquidity while reducing value leakage from MEV and LVR.</a:t>
            </a:r>
          </a:p>
        </p:txBody>
      </p:sp>
    </p:spTree>
    <p:extLst>
      <p:ext uri="{BB962C8B-B14F-4D97-AF65-F5344CB8AC3E}">
        <p14:creationId xmlns:p14="http://schemas.microsoft.com/office/powerpoint/2010/main" val="270165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79351-1C66-0DAB-DB80-16A6A7F0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8F53C-748A-4012-7E7D-10BC73F5572C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6232A-6BB1-64D0-4EC6-44520FAD0E21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Existing Solutions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86A19-1DE5-9A1B-28A9-E7D2768134CE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B0C7A-2A6D-435C-EBF9-7BC0FF046F6A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42DE6-C8E7-77C0-E705-0D6F0FE8989B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03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BCC9B-F0B9-90AC-5CA8-70CCBEE92F09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17373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050" b="1">
                <a:solidFill>
                  <a:srgbClr val="4891D2"/>
                </a:solidFill>
                <a:latin typeface="Satoshi"/>
              </a:defRPr>
            </a:pPr>
            <a:r>
              <a:t>Existing Approaches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002536"/>
            <a:ext cx="10469880" cy="9144"/>
          </a:xfrm>
          <a:prstGeom prst="rect">
            <a:avLst/>
          </a:prstGeom>
          <a:solidFill>
            <a:srgbClr val="20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2267712"/>
            <a:ext cx="3337560" cy="20574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267712"/>
            <a:ext cx="3337560" cy="548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468880"/>
            <a:ext cx="3008376" cy="45720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Dynamic fees via volatility predictors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136391"/>
            <a:ext cx="3008376" cy="78638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100" b="0">
                <a:solidFill>
                  <a:srgbClr val="AEB8C0"/>
                </a:solidFill>
                <a:latin typeface="Satoshi"/>
              </a:defRPr>
            </a:pPr>
            <a:r>
              <a:t>Contracts try to price risk with formulas or volatility signals set before execution.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2267712"/>
            <a:ext cx="3337560" cy="20574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07408" y="2267712"/>
            <a:ext cx="3337560" cy="548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2468880"/>
            <a:ext cx="3008376" cy="45720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Oracle-anchored pools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36391"/>
            <a:ext cx="3008376" cy="78638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100" b="0">
                <a:solidFill>
                  <a:srgbClr val="AEB8C0"/>
                </a:solidFill>
                <a:latin typeface="Satoshi"/>
              </a:defRPr>
            </a:pPr>
            <a:r>
              <a:t>Oracles move the AMM closer to external market prices, but still update in discrete steps.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267712"/>
            <a:ext cx="3337560" cy="20574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83296" y="2267712"/>
            <a:ext cx="3337560" cy="548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2468880"/>
            <a:ext cx="3008376" cy="45720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Auction the 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136391"/>
            <a:ext cx="3008376" cy="78638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100" b="0">
                <a:solidFill>
                  <a:srgbClr val="AEB8C0"/>
                </a:solidFill>
                <a:latin typeface="Satoshi"/>
              </a:defRPr>
            </a:pPr>
            <a:r>
              <a:t>Auctions and solver systems route the price gap to a competition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00600"/>
            <a:ext cx="9784080" cy="32004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50" b="1">
                <a:solidFill>
                  <a:srgbClr val="F2F6F8"/>
                </a:solidFill>
                <a:latin typeface="Satoshi"/>
              </a:defRPr>
            </a:pPr>
            <a:r>
              <a:rPr dirty="0"/>
              <a:t>These approaches help, but each still has to deal with the synchronization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420469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80576-0B52-07FC-B1C3-81DF0861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5C07A-50C6-582B-E5DA-FBA1DF6B851C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92D2B-86C9-DEEF-941A-442305FBD891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Existing Solutions: Concessions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22EF5-415B-A242-700D-3C805E8AE069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148C8-D72B-6A34-2FCA-44B8D7E7EC99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5C357-1485-B30C-9129-E7743FF23BD5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04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DBB58-47CF-8861-3725-BFD7373C68BB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17190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050" b="1">
                <a:solidFill>
                  <a:srgbClr val="4891D2"/>
                </a:solidFill>
                <a:latin typeface="Satoshi"/>
              </a:defRPr>
            </a:pPr>
            <a:r>
              <a:t>What each approach concedes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1975104"/>
            <a:ext cx="10469880" cy="9144"/>
          </a:xfrm>
          <a:prstGeom prst="rect">
            <a:avLst/>
          </a:prstGeom>
          <a:solidFill>
            <a:srgbClr val="20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2194560"/>
            <a:ext cx="5074920" cy="123444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194560"/>
            <a:ext cx="64008" cy="1234440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331720"/>
            <a:ext cx="47548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Program in advance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670048"/>
            <a:ext cx="4754880" cy="70408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00" b="0">
                <a:solidFill>
                  <a:srgbClr val="AEB8C0"/>
                </a:solidFill>
                <a:latin typeface="Satoshi"/>
              </a:defRPr>
            </a:pPr>
            <a:r>
              <a:rPr dirty="0"/>
              <a:t>Sync failure: no formula can perfectly predict external market state before it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194560"/>
            <a:ext cx="5074920" cy="123444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2194560"/>
            <a:ext cx="64008" cy="1234440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3912" y="2331720"/>
            <a:ext cx="47548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Oracle-anchored pools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670048"/>
            <a:ext cx="4754880" cy="70408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00" b="0">
                <a:solidFill>
                  <a:srgbClr val="AEB8C0"/>
                </a:solidFill>
                <a:latin typeface="Satoshi"/>
              </a:defRPr>
            </a:pPr>
            <a:r>
              <a:t>Shifts the sync problem to the oracle. Latency, update thresholds, and ordering risk remain.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94760"/>
            <a:ext cx="3246120" cy="8229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794760"/>
            <a:ext cx="64008" cy="822960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931920"/>
            <a:ext cx="2926079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1">
                <a:solidFill>
                  <a:srgbClr val="F2F6F8"/>
                </a:solidFill>
                <a:latin typeface="Satoshi"/>
              </a:defRPr>
            </a:pPr>
            <a:r>
              <a:t>Auction the 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215384"/>
            <a:ext cx="2926079" cy="29260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40" b="0">
                <a:solidFill>
                  <a:srgbClr val="AEB8C0"/>
                </a:solidFill>
                <a:latin typeface="Satoshi"/>
              </a:defRPr>
            </a:pPr>
            <a:r>
              <a:t>Accepts lag instead of removing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78808" y="3794760"/>
            <a:ext cx="3246120" cy="8229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78808" y="3794760"/>
            <a:ext cx="64008" cy="822960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3931920"/>
            <a:ext cx="2926079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1">
                <a:solidFill>
                  <a:srgbClr val="F2F6F8"/>
                </a:solidFill>
                <a:latin typeface="Satoshi"/>
              </a:defRPr>
            </a:pPr>
            <a:r>
              <a:t>Solver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215384"/>
            <a:ext cx="2926079" cy="29260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40" b="0">
                <a:solidFill>
                  <a:srgbClr val="AEB8C0"/>
                </a:solidFill>
                <a:latin typeface="Satoshi"/>
              </a:defRPr>
            </a:pPr>
            <a:r>
              <a:t>Can introduce centralization or permissioning around execution.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6096" y="3794760"/>
            <a:ext cx="3337560" cy="8229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26096" y="3794760"/>
            <a:ext cx="64008" cy="822960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90688" y="3931920"/>
            <a:ext cx="301752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1">
                <a:solidFill>
                  <a:srgbClr val="F2F6F8"/>
                </a:solidFill>
                <a:latin typeface="Satoshi"/>
              </a:defRPr>
            </a:pPr>
            <a:r>
              <a:t>OFAs &amp; MEV-Share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0688" y="4215384"/>
            <a:ext cx="3017520" cy="29260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40" b="0">
                <a:solidFill>
                  <a:srgbClr val="AEB8C0"/>
                </a:solidFill>
                <a:latin typeface="Satoshi"/>
              </a:defRPr>
            </a:pPr>
            <a:r>
              <a:t>May look competitive while still depending on who controls order flow.</a:t>
            </a:r>
          </a:p>
        </p:txBody>
      </p:sp>
    </p:spTree>
    <p:extLst>
      <p:ext uri="{BB962C8B-B14F-4D97-AF65-F5344CB8AC3E}">
        <p14:creationId xmlns:p14="http://schemas.microsoft.com/office/powerpoint/2010/main" val="310878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611E8-8F54-C11A-F282-508B3BD6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6BEDA5-C67C-EC38-F3AC-657BD08FADAF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8AE1E-EDB8-0A78-1704-0D43B45FD98C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Traditional Finance Analogy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9B2CE-EA52-433C-DCD7-2DDAE8295C53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3E406-BA22-E595-782D-7F2406D9B4D5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D5028-9F5A-5F7C-D27B-7074CAEFB235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05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C7AC3-ED90-84B2-886E-B37E58279C52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783080"/>
            <a:ext cx="4937760" cy="2148840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1783080"/>
            <a:ext cx="73152" cy="2148840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029968"/>
            <a:ext cx="4480560" cy="34747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550" b="1">
                <a:solidFill>
                  <a:srgbClr val="F2F6F8"/>
                </a:solidFill>
                <a:latin typeface="Satoshi"/>
              </a:defRPr>
            </a:pPr>
            <a:r>
              <a:t>TradFi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560320"/>
            <a:ext cx="4480560" cy="86868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50" b="0">
                <a:solidFill>
                  <a:srgbClr val="AEB8C0"/>
                </a:solidFill>
                <a:latin typeface="Satoshi"/>
              </a:defRPr>
            </a:pPr>
            <a:r>
              <a:t>Markout analytics measures what happens after a trade to evaluate flow quality and adverse selection.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83080"/>
            <a:ext cx="4617720" cy="214884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783080"/>
            <a:ext cx="73152" cy="2148840"/>
          </a:xfrm>
          <a:prstGeom prst="rect">
            <a:avLst/>
          </a:prstGeom>
          <a:solidFill>
            <a:srgbClr val="5D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2029968"/>
            <a:ext cx="4160520" cy="34747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550" b="1">
                <a:solidFill>
                  <a:srgbClr val="F2F6F8"/>
                </a:solidFill>
                <a:latin typeface="Satoshi"/>
              </a:defRPr>
            </a:pPr>
            <a:r>
              <a:t>Forward Hook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560320"/>
            <a:ext cx="4160520" cy="86868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50" b="0">
                <a:solidFill>
                  <a:srgbClr val="AEB8C0"/>
                </a:solidFill>
                <a:latin typeface="Satoshi"/>
              </a:defRPr>
            </a:pPr>
            <a:r>
              <a:t>Use the same idea to underwrite liquidity in real time: assess expected flow quality before execution and feed the result into controls.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2852928"/>
            <a:ext cx="347472" cy="0"/>
          </a:xfrm>
          <a:prstGeom prst="line">
            <a:avLst/>
          </a:prstGeom>
          <a:ln w="13970">
            <a:solidFill>
              <a:srgbClr val="4891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681728"/>
            <a:ext cx="9784080" cy="310896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50" b="1">
                <a:solidFill>
                  <a:srgbClr val="F2F6F8"/>
                </a:solidFill>
                <a:latin typeface="Satoshi"/>
              </a:defRPr>
            </a:pPr>
            <a:r>
              <a:t>Forward Hook adapts markout logic to onchain liquidity underwriting.</a:t>
            </a:r>
          </a:p>
        </p:txBody>
      </p:sp>
    </p:spTree>
    <p:extLst>
      <p:ext uri="{BB962C8B-B14F-4D97-AF65-F5344CB8AC3E}">
        <p14:creationId xmlns:p14="http://schemas.microsoft.com/office/powerpoint/2010/main" val="205735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DAE60-50B7-C666-8F7D-975DC86A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4A6A0-3A9C-52C7-D2BE-3360E2777ABE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051E6-C4AB-2E74-D8B5-18E2B30573D5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Insight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2B8A0D-E9B2-A30F-AA29-F4E629FA16C5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EA34F-CBA5-537F-2DF5-5A83BC87ADE6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23FBD-BF69-2BEE-5A19-4E300E011F53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06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28E35-F528-1FCC-0779-7F2CFDD34089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64208"/>
            <a:ext cx="10378440" cy="859536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1664208"/>
            <a:ext cx="10378440" cy="50292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7100" y="1847088"/>
            <a:ext cx="9966960" cy="57150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12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Information asymmetry </a:t>
            </a:r>
            <a:r>
              <a:rPr lang="en-US" sz="1600" dirty="0"/>
              <a:t>is</a:t>
            </a:r>
            <a:r>
              <a:rPr sz="1600" dirty="0"/>
              <a:t> profitable </a:t>
            </a:r>
            <a:r>
              <a:rPr lang="en-US" sz="1600" dirty="0"/>
              <a:t>because of a State Synchronization inherent to the execution environment. Informed Flow can adapt faster than a static smart contract </a:t>
            </a: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731520" y="2761488"/>
            <a:ext cx="3273552" cy="1298448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2926080"/>
            <a:ext cx="2926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t>Price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246120"/>
            <a:ext cx="2926080" cy="59436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t>The DEX state falls out of sync with the global market state. MEV and LVR are the economic value of that gap.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761488"/>
            <a:ext cx="3273552" cy="1298448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2926080"/>
            <a:ext cx="2926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t>Block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3246120"/>
            <a:ext cx="2926080" cy="59436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rPr dirty="0"/>
              <a:t>The chain updates in discrete intervals. Between blocks, AMM state is frozen while external markets keep moving.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761488"/>
            <a:ext cx="3273552" cy="1298448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18704" y="2926080"/>
            <a:ext cx="2926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t>Mempool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3246120"/>
            <a:ext cx="2926080" cy="59436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t>Public pending transactions let informed actors react to synchronization attempts before execution.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52544"/>
            <a:ext cx="10378440" cy="96012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4352544"/>
            <a:ext cx="64008" cy="960120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8"/>
            <a:ext cx="992124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20" b="1">
                <a:solidFill>
                  <a:srgbClr val="F2F6F8"/>
                </a:solidFill>
                <a:latin typeface="Satoshi"/>
              </a:defRPr>
            </a:pPr>
            <a:r>
              <a:t>Why hardcoding the contract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9921240" cy="2743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0">
                <a:solidFill>
                  <a:srgbClr val="AEB8C0"/>
                </a:solidFill>
                <a:latin typeface="Satoshi"/>
              </a:defRPr>
            </a:pPr>
            <a:r>
              <a:t>A contract cannot pre-program every future external market state or guarantee where a transaction will land in a block.</a:t>
            </a:r>
          </a:p>
        </p:txBody>
      </p:sp>
    </p:spTree>
    <p:extLst>
      <p:ext uri="{BB962C8B-B14F-4D97-AF65-F5344CB8AC3E}">
        <p14:creationId xmlns:p14="http://schemas.microsoft.com/office/powerpoint/2010/main" val="1194851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5CA97-69E7-080D-16C9-FAE49FD8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94BCF-B47D-8D58-4C93-9C9E9272F28E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B72D8-39F8-9944-33DE-C543E8CC089C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Forward Hook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99550F-592C-A5B2-CF59-F0BB34A83C19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E76C80-5B63-CB3A-4493-0C612CE8E267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4A81A1-4C1B-2EA2-4FAE-6533C0CCF9FA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07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6B020-B8DF-3BD2-94C8-81A93C49147A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719072"/>
            <a:ext cx="10241280" cy="749808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5228" y="1790192"/>
            <a:ext cx="9829800" cy="310896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rPr sz="1600" dirty="0"/>
              <a:t>Forward Hook treats MEV and LVR as state synchronization problems, </a:t>
            </a:r>
            <a:r>
              <a:rPr lang="en-US" sz="1600" dirty="0"/>
              <a:t>and uses feed forward prediction to identify counterparties and implement controls </a:t>
            </a:r>
            <a:r>
              <a:rPr sz="1600" dirty="0"/>
              <a:t>before value leaks.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52928"/>
            <a:ext cx="3090672" cy="1444752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852928"/>
            <a:ext cx="3090672" cy="50292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072384"/>
            <a:ext cx="2798064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20" b="1">
                <a:solidFill>
                  <a:srgbClr val="F2F6F8"/>
                </a:solidFill>
                <a:latin typeface="Satoshi"/>
              </a:defRPr>
            </a:pPr>
            <a:r>
              <a:t>Generalize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56432"/>
            <a:ext cx="2798064" cy="5029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t>LPs and uninformed traders leak value when DEX state lags informed traders.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852928"/>
            <a:ext cx="3090672" cy="1444752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2852928"/>
            <a:ext cx="3090672" cy="50292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06824" y="3072384"/>
            <a:ext cx="2798064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20" b="1">
                <a:solidFill>
                  <a:srgbClr val="F2F6F8"/>
                </a:solidFill>
                <a:latin typeface="Satoshi"/>
              </a:defRPr>
            </a:pPr>
            <a:r>
              <a:t>Assess risk ahead of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456432"/>
            <a:ext cx="2798064" cy="5029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t>A feed-forward risk assessment can implement controls before the trade settles.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852928"/>
            <a:ext cx="3090672" cy="1444752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0" y="2852928"/>
            <a:ext cx="3090672" cy="50292"/>
          </a:xfrm>
          <a:prstGeom prst="rect">
            <a:avLst/>
          </a:prstGeom>
          <a:solidFill>
            <a:srgbClr val="5D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35824" y="3072384"/>
            <a:ext cx="2798064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20" b="1">
                <a:solidFill>
                  <a:srgbClr val="F2F6F8"/>
                </a:solidFill>
                <a:latin typeface="Satoshi"/>
              </a:defRPr>
            </a:pPr>
            <a:r>
              <a:t>Impose a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3456432"/>
            <a:ext cx="2798064" cy="5029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t>Unknown or high-risk addresses can face fees or controls high enough to reduce exploitability.</a:t>
            </a:r>
          </a:p>
        </p:txBody>
      </p:sp>
    </p:spTree>
    <p:extLst>
      <p:ext uri="{BB962C8B-B14F-4D97-AF65-F5344CB8AC3E}">
        <p14:creationId xmlns:p14="http://schemas.microsoft.com/office/powerpoint/2010/main" val="63427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7346A-C380-C1D9-1B49-B7DF3BA8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76826-45D1-3701-E2DE-9BCF41C5BA81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98CD9-FD15-932E-96C3-E1DE8272E2E1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Interface &amp; Verification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4946E-128C-3481-3045-9C4909787770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9CFADF-9A4E-996F-A0A5-244F29050B7B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73688-AB49-B57F-7DFB-80DD8D6323BB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08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117B4-BC7D-9B63-2368-E492D46E1853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91640"/>
            <a:ext cx="10241280" cy="749808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9829800" cy="310896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rPr sz="1600" dirty="0"/>
              <a:t>The interface makes the risk logic visible enough for LPs, users, and regulated asset issuers to inspect.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3090672" cy="1426464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788920"/>
            <a:ext cx="73152" cy="14264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035808"/>
            <a:ext cx="274320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LPs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438144"/>
            <a:ext cx="2743200" cy="43891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30" b="0">
                <a:solidFill>
                  <a:srgbClr val="AEB8C0"/>
                </a:solidFill>
                <a:latin typeface="Satoshi"/>
              </a:defRPr>
            </a:pPr>
            <a:r>
              <a:t>Verify why a trade received a fee or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788920"/>
            <a:ext cx="3090672" cy="1426464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2788920"/>
            <a:ext cx="73152" cy="14264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035808"/>
            <a:ext cx="274320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438144"/>
            <a:ext cx="2743200" cy="43891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30" b="0">
                <a:solidFill>
                  <a:srgbClr val="AEB8C0"/>
                </a:solidFill>
                <a:latin typeface="Satoshi"/>
              </a:defRPr>
            </a:pPr>
            <a:r>
              <a:t>Understand execution constraints before interacting.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788920"/>
            <a:ext cx="3090672" cy="1426464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0" y="2788920"/>
            <a:ext cx="73152" cy="1426464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3035808"/>
            <a:ext cx="274320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00" b="1">
                <a:solidFill>
                  <a:srgbClr val="F2F6F8"/>
                </a:solidFill>
                <a:latin typeface="Satoshi"/>
              </a:defRPr>
            </a:pPr>
            <a:r>
              <a:t>Regulators / Asset Issuers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438144"/>
            <a:ext cx="2743200" cy="43891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30" b="0">
                <a:solidFill>
                  <a:srgbClr val="AEB8C0"/>
                </a:solidFill>
                <a:latin typeface="Satoshi"/>
              </a:defRPr>
            </a:pPr>
            <a:r>
              <a:t>Review the rationale behind risk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9738360" cy="32918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50" b="1">
                <a:solidFill>
                  <a:srgbClr val="F2F6F8"/>
                </a:solidFill>
                <a:latin typeface="Satoshi"/>
              </a:defRPr>
            </a:pPr>
            <a:r>
              <a:rPr dirty="0"/>
              <a:t>Verification should be understandable from the interface itself.</a:t>
            </a:r>
          </a:p>
        </p:txBody>
      </p:sp>
    </p:spTree>
    <p:extLst>
      <p:ext uri="{BB962C8B-B14F-4D97-AF65-F5344CB8AC3E}">
        <p14:creationId xmlns:p14="http://schemas.microsoft.com/office/powerpoint/2010/main" val="281151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2FF1A-CC8E-B297-4DBB-D7889212D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72A7F-793F-04BF-E47D-5E3C6514B829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41CD-B9E1-FD20-481B-50849EE3D615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Benefits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27939-C00E-37D7-50F8-B04969CEE6E7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1E986-DBF1-4DE6-3007-8DBFFBA457E4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0D717-62E4-879B-950F-734691990C83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09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519E5-F299-2790-8FF1-F0EAD0E1A32E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91640"/>
            <a:ext cx="10058400" cy="3474720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1691640"/>
            <a:ext cx="73152" cy="3474720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1975104"/>
            <a:ext cx="301752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7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Permissionless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975104"/>
            <a:ext cx="6355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0">
                <a:solidFill>
                  <a:srgbClr val="AEB8C0"/>
                </a:solidFill>
                <a:latin typeface="Satoshi"/>
              </a:defRPr>
            </a:pPr>
            <a:r>
              <a:rPr sz="1400" dirty="0"/>
              <a:t>Keeps the system open while adding risk-aware controls.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" y="2468880"/>
            <a:ext cx="9253728" cy="0"/>
          </a:xfrm>
          <a:prstGeom prst="line">
            <a:avLst/>
          </a:prstGeom>
          <a:ln w="6350">
            <a:solidFill>
              <a:srgbClr val="20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552" y="2724912"/>
            <a:ext cx="301752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7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Better flow discrimination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24912"/>
            <a:ext cx="6355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0">
                <a:solidFill>
                  <a:srgbClr val="AEB8C0"/>
                </a:solidFill>
                <a:latin typeface="Satoshi"/>
              </a:defRPr>
            </a:pPr>
            <a:r>
              <a:rPr sz="1400"/>
              <a:t>Dynamic fees can distinguish informed flow from uninformed flow.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7552" y="3218688"/>
            <a:ext cx="9253728" cy="0"/>
          </a:xfrm>
          <a:prstGeom prst="line">
            <a:avLst/>
          </a:prstGeom>
          <a:ln w="6350">
            <a:solidFill>
              <a:srgbClr val="20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7552" y="3474720"/>
            <a:ext cx="301752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7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More durable liquidity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474720"/>
            <a:ext cx="6355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0">
                <a:solidFill>
                  <a:srgbClr val="AEB8C0"/>
                </a:solidFill>
                <a:latin typeface="Satoshi"/>
              </a:defRPr>
            </a:pPr>
            <a:r>
              <a:rPr sz="1400"/>
              <a:t>Better protection can attract more and better liquidity.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552" y="3968496"/>
            <a:ext cx="9253728" cy="0"/>
          </a:xfrm>
          <a:prstGeom prst="line">
            <a:avLst/>
          </a:prstGeom>
          <a:ln w="6350">
            <a:solidFill>
              <a:srgbClr val="202A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87552" y="4224528"/>
            <a:ext cx="301752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70" b="1">
                <a:solidFill>
                  <a:srgbClr val="F2F6F8"/>
                </a:solidFill>
                <a:latin typeface="Satoshi"/>
              </a:defRPr>
            </a:pPr>
            <a:r>
              <a:rPr sz="1600"/>
              <a:t>Verifiable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224528"/>
            <a:ext cx="6355080" cy="256032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80" b="0">
                <a:solidFill>
                  <a:srgbClr val="AEB8C0"/>
                </a:solidFill>
                <a:latin typeface="Satoshi"/>
              </a:defRPr>
            </a:pPr>
            <a:r>
              <a:rPr sz="1400"/>
              <a:t>LPs and stakeholders can inspect the basis for risk decisions.</a:t>
            </a:r>
          </a:p>
        </p:txBody>
      </p:sp>
    </p:spTree>
    <p:extLst>
      <p:ext uri="{BB962C8B-B14F-4D97-AF65-F5344CB8AC3E}">
        <p14:creationId xmlns:p14="http://schemas.microsoft.com/office/powerpoint/2010/main" val="297104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72B3C-5B01-13AD-3F38-7C614718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B5CA88-3619-814D-A149-C7161A244098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B107-0D4F-75E6-8971-335A2802221B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Future Impacts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72E53-4A8B-A2B9-D111-3B48A4A9AE63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DD83D-3181-D268-17A0-7AEF29B3894D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3372D-43F7-DF8D-7F0A-F8A72C54248C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10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AD987A-16D1-B181-5BDD-F30A0538EF6A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91640"/>
            <a:ext cx="10241280" cy="749808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9829800" cy="310896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rPr sz="1600" dirty="0"/>
              <a:t>The same structure can extend beyond MEV protection into broader onchain risk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4892040" cy="20574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25312" y="2788920"/>
            <a:ext cx="4892040" cy="205740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788920"/>
            <a:ext cx="4892040" cy="54864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25312" y="2788920"/>
            <a:ext cx="4892040" cy="54864"/>
          </a:xfrm>
          <a:prstGeom prst="rect">
            <a:avLst/>
          </a:prstGeom>
          <a:solidFill>
            <a:srgbClr val="5D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054096"/>
            <a:ext cx="4480560" cy="29260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50" b="1">
                <a:solidFill>
                  <a:srgbClr val="F2F6F8"/>
                </a:solidFill>
                <a:latin typeface="Satoshi"/>
              </a:defRPr>
            </a:pPr>
            <a:r>
              <a:rPr dirty="0"/>
              <a:t>Regulated </a:t>
            </a:r>
            <a:r>
              <a:rPr sz="1600" dirty="0"/>
              <a:t>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054096"/>
            <a:ext cx="4480560" cy="292608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350" b="1">
                <a:solidFill>
                  <a:srgbClr val="F2F6F8"/>
                </a:solidFill>
                <a:latin typeface="Satoshi"/>
              </a:defRPr>
            </a:pPr>
            <a:r>
              <a:rPr dirty="0"/>
              <a:t>Market </a:t>
            </a:r>
            <a:r>
              <a:rPr sz="1600" dirty="0"/>
              <a:t>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529584"/>
            <a:ext cx="429768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 dirty="0"/>
              <a:t>• Regulatory impact for RWAs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13632"/>
            <a:ext cx="429768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 dirty="0"/>
              <a:t>• Applies to other risk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297680"/>
            <a:ext cx="429768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/>
              <a:t>• Risk gates without forcing KYC onchain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29584"/>
            <a:ext cx="434340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/>
              <a:t>• Natural opening for AI | ML onchain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13632"/>
            <a:ext cx="434340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/>
              <a:t>• LPs can change underwriters to avoid vendor lock-in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97680"/>
            <a:ext cx="4343400" cy="23774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060" b="0">
                <a:solidFill>
                  <a:srgbClr val="AEB8C0"/>
                </a:solidFill>
                <a:latin typeface="Satoshi"/>
              </a:defRPr>
            </a:pPr>
            <a:r>
              <a:rPr sz="1400"/>
              <a:t>• Funding-source controls through trusted exchanges with AML programs</a:t>
            </a:r>
          </a:p>
        </p:txBody>
      </p:sp>
    </p:spTree>
    <p:extLst>
      <p:ext uri="{BB962C8B-B14F-4D97-AF65-F5344CB8AC3E}">
        <p14:creationId xmlns:p14="http://schemas.microsoft.com/office/powerpoint/2010/main" val="183198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38454-08F2-CBD7-0B28-EA3A208D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F5EEE-8E10-5B42-D591-6D83CCC570AF}"/>
              </a:ext>
            </a:extLst>
          </p:cNvPr>
          <p:cNvSpPr txBox="1"/>
          <p:nvPr/>
        </p:nvSpPr>
        <p:spPr>
          <a:xfrm>
            <a:off x="731520" y="420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891D2"/>
                </a:solidFill>
                <a:latin typeface="Satoshi"/>
              </a:rPr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30797-3565-08DE-8FFD-667CB96E72E6}"/>
              </a:ext>
            </a:extLst>
          </p:cNvPr>
          <p:cNvSpPr txBox="1"/>
          <p:nvPr/>
        </p:nvSpPr>
        <p:spPr>
          <a:xfrm>
            <a:off x="731520" y="731520"/>
            <a:ext cx="10241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2F6F8"/>
                </a:solidFill>
                <a:latin typeface="Satoshi"/>
              </a:rPr>
              <a:t>Ongoing Research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13E690-C23A-28DB-EF03-E1FD7F2EE46E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04328-7CB3-FD38-718C-78B48ACCAA59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ADB6A-A2A2-92AC-96D0-EA47443F5181}"/>
              </a:ext>
            </a:extLst>
          </p:cNvPr>
          <p:cNvSpPr txBox="1"/>
          <p:nvPr/>
        </p:nvSpPr>
        <p:spPr>
          <a:xfrm>
            <a:off x="10808208" y="6309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C949A"/>
                </a:solidFill>
                <a:latin typeface="Satoshi"/>
              </a:rPr>
              <a:t>11 /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DEEAC-BB85-DF4B-2BC5-8DB6F8B1B13E}"/>
              </a:ext>
            </a:extLst>
          </p:cNvPr>
          <p:cNvSpPr txBox="1"/>
          <p:nvPr/>
        </p:nvSpPr>
        <p:spPr>
          <a:xfrm>
            <a:off x="731520" y="6309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C949A"/>
                </a:solidFill>
                <a:latin typeface="Satoshi"/>
              </a:rPr>
              <a:t>frwd labs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01400" y="640080"/>
            <a:ext cx="0" cy="5212080"/>
          </a:xfrm>
          <a:prstGeom prst="line">
            <a:avLst/>
          </a:prstGeom>
          <a:ln w="9525">
            <a:solidFill>
              <a:srgbClr val="1C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6016752"/>
            <a:ext cx="10881360" cy="0"/>
          </a:xfrm>
          <a:prstGeom prst="line">
            <a:avLst/>
          </a:prstGeom>
          <a:ln w="8255">
            <a:solidFill>
              <a:srgbClr val="18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1691640"/>
            <a:ext cx="10241280" cy="749808"/>
          </a:xfrm>
          <a:prstGeom prst="roundRect">
            <a:avLst/>
          </a:prstGeom>
          <a:solidFill>
            <a:srgbClr val="0B0F12"/>
          </a:solidFill>
          <a:ln w="10160">
            <a:solidFill>
              <a:srgbClr val="489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9829800" cy="310896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6BB3E2"/>
                </a:solidFill>
                <a:latin typeface="Satoshi"/>
              </a:defRPr>
            </a:pPr>
            <a:r>
              <a:rPr sz="1600" dirty="0"/>
              <a:t>The remaining work is making the underwriting layer useful without making it a new gatekeeper.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3090672" cy="15087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788920"/>
            <a:ext cx="73152" cy="1508760"/>
          </a:xfrm>
          <a:prstGeom prst="rect">
            <a:avLst/>
          </a:prstGeom>
          <a:solidFill>
            <a:srgbClr val="48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017520"/>
            <a:ext cx="2743200" cy="2743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F2F6F8"/>
                </a:solidFill>
                <a:latin typeface="Satoshi"/>
              </a:defRPr>
            </a:pPr>
            <a:r>
              <a:rPr sz="1600" dirty="0"/>
              <a:t>Information centralization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456432"/>
            <a:ext cx="2743200" cy="51206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rPr sz="1400" dirty="0"/>
              <a:t>How to mitigate the concentration of risk models, data, and decision power.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788920"/>
            <a:ext cx="3090672" cy="15087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2788920"/>
            <a:ext cx="73152" cy="1508760"/>
          </a:xfrm>
          <a:prstGeom prst="rect">
            <a:avLst/>
          </a:prstGeom>
          <a:solidFill>
            <a:srgbClr val="5D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017520"/>
            <a:ext cx="2743200" cy="2743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F2F6F8"/>
                </a:solidFill>
                <a:latin typeface="Satoshi"/>
              </a:defRPr>
            </a:pPr>
            <a:r>
              <a:rPr sz="1600"/>
              <a:t>Verifiable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456432"/>
            <a:ext cx="2743200" cy="51206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rPr sz="1400"/>
              <a:t>How to make the logic auditable enough for distributed consensus.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788920"/>
            <a:ext cx="3090672" cy="1508760"/>
          </a:xfrm>
          <a:prstGeom prst="roundRect">
            <a:avLst/>
          </a:prstGeom>
          <a:solidFill>
            <a:srgbClr val="080B0D"/>
          </a:solidFill>
          <a:ln w="10160">
            <a:solidFill>
              <a:srgbClr val="28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0" y="2788920"/>
            <a:ext cx="73152" cy="1508760"/>
          </a:xfrm>
          <a:prstGeom prst="rect">
            <a:avLst/>
          </a:prstGeom>
          <a:solidFill>
            <a:srgbClr val="EE9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3017520"/>
            <a:ext cx="2743200" cy="274320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1200" b="1">
                <a:solidFill>
                  <a:srgbClr val="F2F6F8"/>
                </a:solidFill>
                <a:latin typeface="Satoshi"/>
              </a:defRPr>
            </a:pPr>
            <a:r>
              <a:rPr sz="1600"/>
              <a:t>Underwriter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456432"/>
            <a:ext cx="2743200" cy="512064"/>
          </a:xfrm>
          <a:prstGeom prst="rect">
            <a:avLst/>
          </a:prstGeom>
          <a:noFill/>
        </p:spPr>
        <p:txBody>
          <a:bodyPr wrap="square" tIns="54864" bIns="54864">
            <a:noAutofit/>
          </a:bodyPr>
          <a:lstStyle/>
          <a:p>
            <a:pPr>
              <a:defRPr sz="980" b="0">
                <a:solidFill>
                  <a:srgbClr val="AEB8C0"/>
                </a:solidFill>
                <a:latin typeface="Satoshi"/>
              </a:defRPr>
            </a:pPr>
            <a:r>
              <a:rPr sz="1400"/>
              <a:t>How LPs can switch underwriters while preserving trust-minimized execution.</a:t>
            </a:r>
          </a:p>
        </p:txBody>
      </p:sp>
    </p:spTree>
    <p:extLst>
      <p:ext uri="{BB962C8B-B14F-4D97-AF65-F5344CB8AC3E}">
        <p14:creationId xmlns:p14="http://schemas.microsoft.com/office/powerpoint/2010/main" val="363527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A2834-08AF-8C31-5247-FE3E1C3E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4F9F7-0549-BD73-3108-A2272851D2EF}"/>
              </a:ext>
            </a:extLst>
          </p:cNvPr>
          <p:cNvSpPr txBox="1"/>
          <p:nvPr/>
        </p:nvSpPr>
        <p:spPr>
          <a:xfrm>
            <a:off x="731520" y="455807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A6F8E"/>
                </a:solidFill>
                <a:latin typeface="Satoshi"/>
              </a:rPr>
              <a:t>0</a:t>
            </a:r>
            <a:r>
              <a:rPr lang="en-US" sz="1100" b="1" dirty="0">
                <a:solidFill>
                  <a:srgbClr val="5A6F8E"/>
                </a:solidFill>
                <a:latin typeface="Satoshi"/>
              </a:rPr>
              <a:t>8</a:t>
            </a:r>
            <a:endParaRPr sz="1100" b="1" dirty="0">
              <a:solidFill>
                <a:srgbClr val="5A6F8E"/>
              </a:solidFill>
              <a:latin typeface="Satosh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EE75F-64D7-536C-0A8E-982DFA0F0813}"/>
              </a:ext>
            </a:extLst>
          </p:cNvPr>
          <p:cNvSpPr txBox="1"/>
          <p:nvPr/>
        </p:nvSpPr>
        <p:spPr>
          <a:xfrm>
            <a:off x="731519" y="640080"/>
            <a:ext cx="10323167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FFFFE3"/>
                </a:solidFill>
                <a:latin typeface="Satoshi"/>
              </a:rPr>
              <a:t>Core Product: Automated Onchain Risk Decision Support</a:t>
            </a:r>
            <a:endParaRPr sz="3600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845A3B-3BFA-0867-18AE-5BEDA9A071F7}"/>
              </a:ext>
            </a:extLst>
          </p:cNvPr>
          <p:cNvSpPr/>
          <p:nvPr/>
        </p:nvSpPr>
        <p:spPr>
          <a:xfrm>
            <a:off x="731519" y="1777317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B96F82-4A2E-A4AD-11A5-8EB32279E5AE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820B7-BF63-6C7E-56B2-F9AA10116AE5}"/>
              </a:ext>
            </a:extLst>
          </p:cNvPr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9998A"/>
                </a:solidFill>
                <a:latin typeface="Satoshi"/>
              </a:rPr>
              <a:t>0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8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 /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1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C6922-CF18-8DB7-8A37-1A2310567351}"/>
              </a:ext>
            </a:extLst>
          </p:cNvPr>
          <p:cNvSpPr txBox="1"/>
          <p:nvPr/>
        </p:nvSpPr>
        <p:spPr>
          <a:xfrm>
            <a:off x="73152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8A"/>
                </a:solidFill>
                <a:latin typeface="Satoshi"/>
              </a:rPr>
              <a:t>frwd labs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432C4-6FE4-67C8-384A-5F4B4EB2DB8A}"/>
              </a:ext>
            </a:extLst>
          </p:cNvPr>
          <p:cNvSpPr txBox="1"/>
          <p:nvPr/>
        </p:nvSpPr>
        <p:spPr>
          <a:xfrm>
            <a:off x="731519" y="2548001"/>
            <a:ext cx="39634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Enables:</a:t>
            </a:r>
          </a:p>
          <a:p>
            <a:endParaRPr lang="en-US" b="1" dirty="0">
              <a:solidFill>
                <a:schemeClr val="accent1"/>
              </a:solidFill>
              <a:latin typeface="Satoshi"/>
            </a:endParaRPr>
          </a:p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Real Time Action</a:t>
            </a:r>
          </a:p>
          <a:p>
            <a:endParaRPr lang="en-US" b="1" dirty="0">
              <a:solidFill>
                <a:schemeClr val="accent1"/>
              </a:solidFill>
              <a:latin typeface="Satoshi"/>
            </a:endParaRPr>
          </a:p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Non-Brittle, Adaptable Detection</a:t>
            </a:r>
          </a:p>
          <a:p>
            <a:endParaRPr lang="en-US" b="1" dirty="0">
              <a:solidFill>
                <a:schemeClr val="accent1"/>
              </a:solidFill>
              <a:latin typeface="Satoshi"/>
            </a:endParaRP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89007-7BCC-2E4C-FE9E-ED43C738C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270" y="1459509"/>
            <a:ext cx="6625840" cy="444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24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32783-3CC1-9CBA-E6D4-273A468C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41FC9-2C58-0A8B-713E-D7F1AAF021D3}"/>
              </a:ext>
            </a:extLst>
          </p:cNvPr>
          <p:cNvSpPr txBox="1"/>
          <p:nvPr/>
        </p:nvSpPr>
        <p:spPr>
          <a:xfrm>
            <a:off x="731520" y="455807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A6F8E"/>
                </a:solidFill>
                <a:latin typeface="Satoshi"/>
              </a:rPr>
              <a:t>0</a:t>
            </a:r>
            <a:r>
              <a:rPr lang="en-US" sz="1100" b="1" dirty="0">
                <a:solidFill>
                  <a:srgbClr val="5A6F8E"/>
                </a:solidFill>
                <a:latin typeface="Satoshi"/>
              </a:rPr>
              <a:t>8</a:t>
            </a:r>
            <a:endParaRPr sz="1100" b="1" dirty="0">
              <a:solidFill>
                <a:srgbClr val="5A6F8E"/>
              </a:solidFill>
              <a:latin typeface="Satosh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19C1F-80A0-24A2-5CC1-142C0027212E}"/>
              </a:ext>
            </a:extLst>
          </p:cNvPr>
          <p:cNvSpPr txBox="1"/>
          <p:nvPr/>
        </p:nvSpPr>
        <p:spPr>
          <a:xfrm>
            <a:off x="731519" y="640080"/>
            <a:ext cx="10323167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600" b="1" dirty="0">
                <a:solidFill>
                  <a:srgbClr val="FFFFE3"/>
                </a:solidFill>
                <a:latin typeface="Satoshi"/>
              </a:rPr>
              <a:t>Core Product: Automated Onchain Risk Decision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97A310-87F8-9B35-DBE4-65204873CBDE}"/>
              </a:ext>
            </a:extLst>
          </p:cNvPr>
          <p:cNvSpPr/>
          <p:nvPr/>
        </p:nvSpPr>
        <p:spPr>
          <a:xfrm>
            <a:off x="731519" y="1813722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BD3C4-B3EA-55EE-04AF-667ED4E44E1B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EC08B-89A3-7365-8020-AE92079C547D}"/>
              </a:ext>
            </a:extLst>
          </p:cNvPr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9998A"/>
                </a:solidFill>
                <a:latin typeface="Satoshi"/>
              </a:rPr>
              <a:t>0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8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 /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1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65C34-0D2B-CB9B-8084-AA14B1D80FB7}"/>
              </a:ext>
            </a:extLst>
          </p:cNvPr>
          <p:cNvSpPr txBox="1"/>
          <p:nvPr/>
        </p:nvSpPr>
        <p:spPr>
          <a:xfrm>
            <a:off x="73152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8A"/>
                </a:solidFill>
                <a:latin typeface="Satoshi"/>
              </a:rPr>
              <a:t>frwd labs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37F0B-A932-DB07-FCDA-75B9E66C3E25}"/>
              </a:ext>
            </a:extLst>
          </p:cNvPr>
          <p:cNvSpPr txBox="1"/>
          <p:nvPr/>
        </p:nvSpPr>
        <p:spPr>
          <a:xfrm>
            <a:off x="731519" y="2548001"/>
            <a:ext cx="39634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Enables:</a:t>
            </a:r>
          </a:p>
          <a:p>
            <a:endParaRPr lang="en-US" b="1" dirty="0">
              <a:solidFill>
                <a:schemeClr val="accent1"/>
              </a:solidFill>
              <a:latin typeface="Satoshi"/>
            </a:endParaRPr>
          </a:p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Decision Assurance – Reasoning Chain Fully Auditable</a:t>
            </a:r>
          </a:p>
          <a:p>
            <a:endParaRPr lang="en-US" b="1" dirty="0">
              <a:solidFill>
                <a:schemeClr val="accent1"/>
              </a:solidFill>
              <a:latin typeface="Satoshi"/>
            </a:endParaRPr>
          </a:p>
          <a:p>
            <a:r>
              <a:rPr lang="en-US" b="1" dirty="0">
                <a:solidFill>
                  <a:schemeClr val="accent1"/>
                </a:solidFill>
                <a:latin typeface="Satoshi"/>
              </a:rPr>
              <a:t>Provide regulators and stakeholders with supporting rational, not just black-box ML</a:t>
            </a:r>
            <a:endParaRPr lang="en-US" b="1" dirty="0">
              <a:solidFill>
                <a:srgbClr val="FFFFE3"/>
              </a:solidFill>
              <a:latin typeface="Satoshi"/>
            </a:endParaRP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3875E-DAE2-08AB-969F-2FF091819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54" y="1495741"/>
            <a:ext cx="6937201" cy="451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4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63D17-911D-6A60-F56E-D46996A3F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D9F5-C7E0-3EEE-B309-CB030273C513}"/>
              </a:ext>
            </a:extLst>
          </p:cNvPr>
          <p:cNvSpPr txBox="1"/>
          <p:nvPr/>
        </p:nvSpPr>
        <p:spPr>
          <a:xfrm>
            <a:off x="731520" y="4343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A6F8E"/>
                </a:solidFill>
                <a:latin typeface="Satoshi"/>
              </a:rPr>
              <a:t>0</a:t>
            </a:r>
            <a:r>
              <a:rPr lang="en-US" sz="1100" b="1" dirty="0">
                <a:solidFill>
                  <a:srgbClr val="5A6F8E"/>
                </a:solidFill>
                <a:latin typeface="Satoshi"/>
              </a:rPr>
              <a:t>9</a:t>
            </a:r>
            <a:endParaRPr sz="1100" b="1" dirty="0">
              <a:solidFill>
                <a:srgbClr val="5A6F8E"/>
              </a:solidFill>
              <a:latin typeface="Satosh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DFC11-9939-BEA4-81F5-AC33475E5518}"/>
              </a:ext>
            </a:extLst>
          </p:cNvPr>
          <p:cNvSpPr txBox="1"/>
          <p:nvPr/>
        </p:nvSpPr>
        <p:spPr>
          <a:xfrm>
            <a:off x="731519" y="640080"/>
            <a:ext cx="9954677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FFFFE3"/>
                </a:solidFill>
                <a:latin typeface="Satoshi"/>
              </a:rPr>
              <a:t>Opportunity | Financial Markets Move Onchain</a:t>
            </a:r>
            <a:endParaRPr sz="3600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754C3-1A52-2B68-3855-7ACF7E4B4AA9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4C529D-FA89-9041-3354-E14D3988E6CA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5C766B-4F5A-2A02-6C18-C52BC5F5BF73}"/>
              </a:ext>
            </a:extLst>
          </p:cNvPr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9998A"/>
                </a:solidFill>
                <a:latin typeface="Satoshi"/>
              </a:rPr>
              <a:t>0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9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 / 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1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20470-75EB-0164-898D-80C78D6741B2}"/>
              </a:ext>
            </a:extLst>
          </p:cNvPr>
          <p:cNvSpPr txBox="1"/>
          <p:nvPr/>
        </p:nvSpPr>
        <p:spPr>
          <a:xfrm>
            <a:off x="73152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8A"/>
                </a:solidFill>
                <a:latin typeface="Satoshi"/>
              </a:rPr>
              <a:t>frwd labs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4625C-88BB-EF15-13AC-E48687586DE4}"/>
              </a:ext>
            </a:extLst>
          </p:cNvPr>
          <p:cNvSpPr txBox="1"/>
          <p:nvPr/>
        </p:nvSpPr>
        <p:spPr>
          <a:xfrm>
            <a:off x="823265" y="1760220"/>
            <a:ext cx="31035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Satoshi"/>
              </a:rPr>
              <a:t>Existing category:</a:t>
            </a:r>
          </a:p>
          <a:p>
            <a:pPr algn="ctr"/>
            <a:r>
              <a:rPr lang="en-US" b="1" u="sng" dirty="0">
                <a:solidFill>
                  <a:srgbClr val="FFFFE3"/>
                </a:solidFill>
                <a:latin typeface="Satoshi"/>
              </a:rPr>
              <a:t>After the Fact Intelligence</a:t>
            </a:r>
          </a:p>
          <a:p>
            <a:pPr algn="ctr"/>
            <a:endParaRPr lang="en-US" u="sng" dirty="0">
              <a:solidFill>
                <a:srgbClr val="FFFFE3"/>
              </a:solidFill>
              <a:latin typeface="Satoshi"/>
            </a:endParaRPr>
          </a:p>
          <a:p>
            <a:pPr algn="ctr"/>
            <a:r>
              <a:rPr lang="en-US" u="sng" dirty="0">
                <a:solidFill>
                  <a:srgbClr val="FFFFE3"/>
                </a:solidFill>
                <a:latin typeface="Satoshi"/>
              </a:rPr>
              <a:t>Use Case</a:t>
            </a: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Investigation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Entity attribution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Flow Tracing</a:t>
            </a:r>
            <a:endParaRPr lang="en-US" b="1" dirty="0">
              <a:solidFill>
                <a:srgbClr val="FFFFE3"/>
              </a:solidFill>
              <a:latin typeface="Satoshi"/>
            </a:endParaRPr>
          </a:p>
          <a:p>
            <a:pPr algn="ctr"/>
            <a:endParaRPr lang="en-US" b="1" dirty="0">
              <a:solidFill>
                <a:srgbClr val="FFFFE3"/>
              </a:solidFill>
              <a:latin typeface="Satoshi"/>
            </a:endParaRPr>
          </a:p>
          <a:p>
            <a:pPr algn="ctr"/>
            <a:r>
              <a:rPr lang="en-US" b="1" u="sng" dirty="0">
                <a:solidFill>
                  <a:srgbClr val="FFFFE3"/>
                </a:solidFill>
                <a:latin typeface="Satoshi"/>
              </a:rPr>
              <a:t>Customer Profile:</a:t>
            </a: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Law enforcement</a:t>
            </a: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Banks &amp; Traditional Finance</a:t>
            </a:r>
          </a:p>
          <a:p>
            <a:pPr algn="ctr"/>
            <a:r>
              <a:rPr lang="en-US" dirty="0" err="1">
                <a:solidFill>
                  <a:srgbClr val="FFFFE3"/>
                </a:solidFill>
                <a:latin typeface="Satoshi"/>
              </a:rPr>
              <a:t>Chainalysis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TRM Labs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Nansen</a:t>
            </a:r>
          </a:p>
          <a:p>
            <a:pPr algn="ctr"/>
            <a:endParaRPr lang="en-US" dirty="0">
              <a:solidFill>
                <a:srgbClr val="FFFFE3"/>
              </a:solidFill>
              <a:latin typeface="Satoshi"/>
            </a:endParaRPr>
          </a:p>
          <a:p>
            <a:pPr algn="ctr"/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210E4-4D22-FE5F-0EE4-F53E929940DF}"/>
              </a:ext>
            </a:extLst>
          </p:cNvPr>
          <p:cNvSpPr txBox="1"/>
          <p:nvPr/>
        </p:nvSpPr>
        <p:spPr>
          <a:xfrm>
            <a:off x="7442274" y="1690183"/>
            <a:ext cx="39264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Satoshi"/>
              </a:rPr>
              <a:t>Emerging category:</a:t>
            </a:r>
          </a:p>
          <a:p>
            <a:pPr algn="ctr"/>
            <a:r>
              <a:rPr lang="en-US" b="1" u="sng" dirty="0">
                <a:solidFill>
                  <a:srgbClr val="FFFFE3"/>
                </a:solidFill>
                <a:latin typeface="Satoshi"/>
              </a:rPr>
              <a:t>Real Time Risk Infrastructure</a:t>
            </a:r>
          </a:p>
          <a:p>
            <a:pPr algn="ctr"/>
            <a:br>
              <a:rPr lang="en-US" u="sng" dirty="0">
                <a:solidFill>
                  <a:srgbClr val="FFFFE3"/>
                </a:solidFill>
                <a:latin typeface="Satoshi"/>
              </a:rPr>
            </a:br>
            <a:r>
              <a:rPr lang="en-US" u="sng" dirty="0">
                <a:solidFill>
                  <a:srgbClr val="FFFFE3"/>
                </a:solidFill>
                <a:latin typeface="Satoshi"/>
              </a:rPr>
              <a:t>Use Case</a:t>
            </a: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automation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integration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programmable enforcement</a:t>
            </a:r>
          </a:p>
          <a:p>
            <a:pPr algn="ctr"/>
            <a:endParaRPr lang="en-US" b="1" dirty="0">
              <a:solidFill>
                <a:srgbClr val="FFFFE3"/>
              </a:solidFill>
              <a:latin typeface="Satoshi"/>
            </a:endParaRPr>
          </a:p>
          <a:p>
            <a:pPr algn="ctr"/>
            <a:r>
              <a:rPr lang="en-US" b="1" u="sng" dirty="0">
                <a:solidFill>
                  <a:srgbClr val="FFFFE3"/>
                </a:solidFill>
                <a:latin typeface="Satoshi"/>
              </a:rPr>
              <a:t>Customer Profile</a:t>
            </a:r>
            <a:endParaRPr lang="en-US" dirty="0">
              <a:solidFill>
                <a:srgbClr val="FFFFE3"/>
              </a:solidFill>
              <a:latin typeface="Satoshi"/>
            </a:endParaRP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stablecoins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tokenized securities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onchain funds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regulated DeFi</a:t>
            </a:r>
          </a:p>
          <a:p>
            <a:pPr algn="ctr"/>
            <a:r>
              <a:rPr lang="en-US" dirty="0">
                <a:solidFill>
                  <a:srgbClr val="FFFFE3"/>
                </a:solidFill>
                <a:latin typeface="Satoshi"/>
              </a:rPr>
              <a:t>Law enforcement</a:t>
            </a:r>
          </a:p>
          <a:p>
            <a:pPr algn="ctr"/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47FEF-C3ED-1534-7A36-9A021AB80705}"/>
              </a:ext>
            </a:extLst>
          </p:cNvPr>
          <p:cNvSpPr txBox="1"/>
          <p:nvPr/>
        </p:nvSpPr>
        <p:spPr>
          <a:xfrm>
            <a:off x="4572228" y="3091657"/>
            <a:ext cx="2224584" cy="65182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accent1"/>
                </a:solidFill>
                <a:latin typeface="Satoshi"/>
              </a:rPr>
              <a:t>Frwd Labs</a:t>
            </a:r>
            <a:endParaRPr sz="3600" b="1" dirty="0">
              <a:solidFill>
                <a:schemeClr val="accent1"/>
              </a:solidFill>
              <a:latin typeface="Satosh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BD4A8-3169-F91A-E8C0-F9F8F7ECC891}"/>
              </a:ext>
            </a:extLst>
          </p:cNvPr>
          <p:cNvSpPr txBox="1"/>
          <p:nvPr/>
        </p:nvSpPr>
        <p:spPr>
          <a:xfrm>
            <a:off x="4381273" y="2500949"/>
            <a:ext cx="2606494" cy="65182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FFE3"/>
                </a:solidFill>
                <a:latin typeface="Satoshi"/>
              </a:rPr>
              <a:t>Supplement</a:t>
            </a:r>
            <a:endParaRPr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FEEFB-7D1B-E74D-3D4F-5AFD374FF4A4}"/>
              </a:ext>
            </a:extLst>
          </p:cNvPr>
          <p:cNvSpPr txBox="1"/>
          <p:nvPr/>
        </p:nvSpPr>
        <p:spPr>
          <a:xfrm>
            <a:off x="4381273" y="4099244"/>
            <a:ext cx="2606494" cy="65182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FFE3"/>
                </a:solidFill>
                <a:latin typeface="Satoshi"/>
              </a:rPr>
              <a:t>Build</a:t>
            </a:r>
            <a:endParaRPr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42BA2E0-5403-50CA-A5FA-04B0EF5D1E02}"/>
              </a:ext>
            </a:extLst>
          </p:cNvPr>
          <p:cNvSpPr/>
          <p:nvPr/>
        </p:nvSpPr>
        <p:spPr>
          <a:xfrm>
            <a:off x="6855079" y="4209933"/>
            <a:ext cx="778150" cy="179196"/>
          </a:xfrm>
          <a:prstGeom prst="rightArrow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963C3B1-1A94-FEC5-7534-81F8B8C6BEAD}"/>
              </a:ext>
            </a:extLst>
          </p:cNvPr>
          <p:cNvSpPr/>
          <p:nvPr/>
        </p:nvSpPr>
        <p:spPr>
          <a:xfrm rot="10800000">
            <a:off x="3764944" y="2568514"/>
            <a:ext cx="778150" cy="179196"/>
          </a:xfrm>
          <a:prstGeom prst="righ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EFE01-A090-656E-7339-840751D1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EF0DA-5761-4877-3290-734A46C5394F}"/>
              </a:ext>
            </a:extLst>
          </p:cNvPr>
          <p:cNvSpPr txBox="1"/>
          <p:nvPr/>
        </p:nvSpPr>
        <p:spPr>
          <a:xfrm>
            <a:off x="731520" y="548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A6F8E"/>
                </a:solidFill>
                <a:latin typeface="Satoshi"/>
              </a:rPr>
              <a:t>1</a:t>
            </a:r>
            <a:r>
              <a:rPr lang="en-US" sz="1100" b="1" dirty="0">
                <a:solidFill>
                  <a:srgbClr val="5A6F8E"/>
                </a:solidFill>
                <a:latin typeface="Satoshi"/>
              </a:rPr>
              <a:t>0</a:t>
            </a:r>
            <a:endParaRPr sz="1100" b="1" dirty="0">
              <a:solidFill>
                <a:srgbClr val="5A6F8E"/>
              </a:solidFill>
              <a:latin typeface="Satosh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6C608-0656-55B7-A485-02910123E0D2}"/>
              </a:ext>
            </a:extLst>
          </p:cNvPr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FFFFE3"/>
                </a:solidFill>
                <a:latin typeface="Satoshi"/>
              </a:rPr>
              <a:t>Business Model</a:t>
            </a:r>
            <a:endParaRPr sz="3600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4693F-B4B8-4909-2A3B-A10466710E81}"/>
              </a:ext>
            </a:extLst>
          </p:cNvPr>
          <p:cNvSpPr/>
          <p:nvPr/>
        </p:nvSpPr>
        <p:spPr>
          <a:xfrm>
            <a:off x="731520" y="1600200"/>
            <a:ext cx="1828800" cy="25400"/>
          </a:xfrm>
          <a:prstGeom prst="rect">
            <a:avLst/>
          </a:prstGeom>
          <a:solidFill>
            <a:srgbClr val="5A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E101E-EEC8-E1A3-3254-014441576D64}"/>
              </a:ext>
            </a:extLst>
          </p:cNvPr>
          <p:cNvSpPr/>
          <p:nvPr/>
        </p:nvSpPr>
        <p:spPr>
          <a:xfrm>
            <a:off x="548640" y="6035040"/>
            <a:ext cx="11094415" cy="9525"/>
          </a:xfrm>
          <a:prstGeom prst="rect">
            <a:avLst/>
          </a:prstGeom>
          <a:solidFill>
            <a:srgbClr val="333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344FB3-8C42-6BEB-F9F0-A212B19F999F}"/>
              </a:ext>
            </a:extLst>
          </p:cNvPr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99998A"/>
                </a:solidFill>
                <a:latin typeface="Satoshi"/>
              </a:rPr>
              <a:t>1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0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 / </a:t>
            </a:r>
            <a:r>
              <a:rPr lang="en-US" sz="900" b="0" dirty="0">
                <a:solidFill>
                  <a:srgbClr val="99998A"/>
                </a:solidFill>
                <a:latin typeface="Satoshi"/>
              </a:rPr>
              <a:t>1</a:t>
            </a:r>
            <a:r>
              <a:rPr sz="900" b="0" dirty="0">
                <a:solidFill>
                  <a:srgbClr val="99998A"/>
                </a:solidFill>
                <a:latin typeface="Satoshi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E61357-2DF3-C6D2-890F-EFA633BFF154}"/>
              </a:ext>
            </a:extLst>
          </p:cNvPr>
          <p:cNvSpPr txBox="1"/>
          <p:nvPr/>
        </p:nvSpPr>
        <p:spPr>
          <a:xfrm>
            <a:off x="731520" y="6309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8A"/>
                </a:solidFill>
                <a:latin typeface="Satoshi"/>
              </a:rPr>
              <a:t>frwd labs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DD27CB-0FCB-34A8-6B72-868A67298041}"/>
              </a:ext>
            </a:extLst>
          </p:cNvPr>
          <p:cNvSpPr txBox="1"/>
          <p:nvPr/>
        </p:nvSpPr>
        <p:spPr>
          <a:xfrm>
            <a:off x="731517" y="1671320"/>
            <a:ext cx="595588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Satoshi"/>
              </a:rPr>
              <a:t>Current wedge customers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Compliance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E3"/>
                </a:solidFill>
                <a:latin typeface="Satoshi"/>
              </a:rPr>
              <a:t>	enhance existing risk-analysis (example: </a:t>
            </a:r>
            <a:r>
              <a:rPr lang="en-US" dirty="0" err="1">
                <a:solidFill>
                  <a:srgbClr val="FFFFE3"/>
                </a:solidFill>
                <a:latin typeface="Satoshi"/>
              </a:rPr>
              <a:t>Scorechain</a:t>
            </a:r>
            <a:r>
              <a:rPr lang="en-US" dirty="0">
                <a:solidFill>
                  <a:srgbClr val="FFFFE3"/>
                </a:solidFill>
                <a:latin typeface="Satoshi"/>
              </a:rPr>
              <a:t>)</a:t>
            </a:r>
          </a:p>
          <a:p>
            <a:endParaRPr lang="en-US" dirty="0">
              <a:solidFill>
                <a:srgbClr val="FFFFE3"/>
              </a:solidFill>
              <a:latin typeface="Satoshi"/>
            </a:endParaRP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Onchain ecosystems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E3"/>
                </a:solidFill>
                <a:latin typeface="Satoshi"/>
              </a:rPr>
              <a:t>support immediate needs - detect market manipulation / incentive farming / wash trading (example: Plume)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r>
              <a:rPr lang="en-US" b="1" u="sng" dirty="0">
                <a:solidFill>
                  <a:schemeClr val="accent3"/>
                </a:solidFill>
                <a:latin typeface="Satoshi"/>
              </a:rPr>
              <a:t>Pricing Model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Behavior-based risk signal API: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$25k–150k annual license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r>
              <a:rPr lang="en-US" b="1" dirty="0">
                <a:solidFill>
                  <a:srgbClr val="FFFFE3"/>
                </a:solidFill>
                <a:latin typeface="Satoshi"/>
              </a:rPr>
              <a:t>	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DD7AC-CC9C-0384-D020-5CB04A31CEF8}"/>
              </a:ext>
            </a:extLst>
          </p:cNvPr>
          <p:cNvSpPr txBox="1"/>
          <p:nvPr/>
        </p:nvSpPr>
        <p:spPr>
          <a:xfrm>
            <a:off x="6687402" y="1671320"/>
            <a:ext cx="45774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Satoshi"/>
              </a:rPr>
              <a:t>Long-term vision customers</a:t>
            </a:r>
          </a:p>
          <a:p>
            <a:endParaRPr lang="en-US" b="1" u="sng" dirty="0">
              <a:solidFill>
                <a:srgbClr val="FFFFE3"/>
              </a:solidFill>
              <a:latin typeface="Satoshi"/>
            </a:endParaRP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Digital Asset Issuers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Onchain Exchanges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Blockchain Networks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r>
              <a:rPr lang="en-US" b="1" u="sng" dirty="0">
                <a:solidFill>
                  <a:schemeClr val="accent3"/>
                </a:solidFill>
                <a:latin typeface="Satoshi"/>
              </a:rPr>
              <a:t>Pricing model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platform license: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$250k – $1.5M annually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usage-based pricing: </a:t>
            </a:r>
          </a:p>
          <a:p>
            <a:r>
              <a:rPr lang="en-US" dirty="0">
                <a:solidFill>
                  <a:srgbClr val="FFFFE3"/>
                </a:solidFill>
                <a:latin typeface="Satoshi"/>
              </a:rPr>
              <a:t>per risk query</a:t>
            </a:r>
            <a:br>
              <a:rPr lang="en-US" dirty="0">
                <a:solidFill>
                  <a:srgbClr val="FFFFE3"/>
                </a:solidFill>
                <a:latin typeface="Satoshi"/>
              </a:rPr>
            </a:br>
            <a:r>
              <a:rPr lang="en-US" dirty="0">
                <a:solidFill>
                  <a:srgbClr val="FFFFE3"/>
                </a:solidFill>
                <a:latin typeface="Satoshi"/>
              </a:rPr>
              <a:t>or transaction volume tier</a:t>
            </a: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  <a:p>
            <a:endParaRPr lang="en-US" b="1" dirty="0">
              <a:solidFill>
                <a:srgbClr val="FFFFE3"/>
              </a:solidFill>
              <a:latin typeface="Satoshi"/>
            </a:endParaRPr>
          </a:p>
        </p:txBody>
      </p:sp>
    </p:spTree>
    <p:extLst>
      <p:ext uri="{BB962C8B-B14F-4D97-AF65-F5344CB8AC3E}">
        <p14:creationId xmlns:p14="http://schemas.microsoft.com/office/powerpoint/2010/main" val="367557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14401</TotalTime>
  <Words>1006</Words>
  <Application>Microsoft Macintosh PowerPoint</Application>
  <PresentationFormat>Widescreen</PresentationFormat>
  <Paragraphs>197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Satoshi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 Worth</cp:lastModifiedBy>
  <cp:revision>29</cp:revision>
  <dcterms:created xsi:type="dcterms:W3CDTF">2013-01-27T09:14:16Z</dcterms:created>
  <dcterms:modified xsi:type="dcterms:W3CDTF">2026-09-03T22:21:41Z</dcterms:modified>
  <cp:category/>
</cp:coreProperties>
</file>